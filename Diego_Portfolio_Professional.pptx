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napToObjects="1">
      <p:cViewPr>
        <p:scale>
          <a:sx n="140" d="100"/>
          <a:sy n="140" d="100"/>
        </p:scale>
        <p:origin x="1032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125200"/>
            <a:ext cx="73152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lang="es-419" dirty="0"/>
              <a:t>Portafolio</a:t>
            </a:r>
          </a:p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dirty="0"/>
              <a:t>Diego</a:t>
            </a:r>
            <a:r>
              <a:rPr lang="es-419" dirty="0"/>
              <a:t> Bolaños</a:t>
            </a:r>
            <a:endParaRPr dirty="0"/>
          </a:p>
          <a:p>
            <a:pPr algn="ctr">
              <a:spcBef>
                <a:spcPts val="1600"/>
              </a:spcBef>
              <a:defRPr sz="2400">
                <a:solidFill>
                  <a:srgbClr val="FFFFFF"/>
                </a:solidFill>
              </a:defRPr>
            </a:pPr>
            <a:r>
              <a:rPr dirty="0" err="1"/>
              <a:t>Ingeniero</a:t>
            </a:r>
            <a:r>
              <a:rPr dirty="0"/>
              <a:t> IA </a:t>
            </a:r>
            <a:r>
              <a:rPr dirty="0" err="1"/>
              <a:t>en</a:t>
            </a:r>
            <a:r>
              <a:rPr dirty="0"/>
              <a:t> SIRIS Cloud | Ex. </a:t>
            </a:r>
            <a:r>
              <a:rPr dirty="0" err="1"/>
              <a:t>Investigador</a:t>
            </a:r>
            <a:r>
              <a:rPr dirty="0"/>
              <a:t> IA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+4 </a:t>
            </a:r>
            <a:r>
              <a:rPr dirty="0" err="1"/>
              <a:t>años</a:t>
            </a:r>
            <a:r>
              <a:rPr dirty="0"/>
              <a:t> de </a:t>
            </a:r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desarrollando</a:t>
            </a:r>
            <a:r>
              <a:rPr dirty="0"/>
              <a:t> </a:t>
            </a:r>
            <a:r>
              <a:rPr dirty="0" err="1"/>
              <a:t>soluciones</a:t>
            </a:r>
            <a:r>
              <a:rPr dirty="0"/>
              <a:t> IA </a:t>
            </a:r>
            <a:r>
              <a:rPr dirty="0" err="1"/>
              <a:t>innovadoras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3716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Sobre mí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35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 sz="1600"/>
            </a:pPr>
            <a:r>
              <a:rPr sz="1400" dirty="0"/>
              <a:t>Mi </a:t>
            </a:r>
            <a:r>
              <a:rPr sz="1400" dirty="0" err="1"/>
              <a:t>trayectoria</a:t>
            </a:r>
            <a:r>
              <a:rPr sz="1400" dirty="0"/>
              <a:t> </a:t>
            </a:r>
            <a:r>
              <a:rPr sz="1400" dirty="0" err="1"/>
              <a:t>académica</a:t>
            </a:r>
            <a:r>
              <a:rPr sz="1400" dirty="0"/>
              <a:t> me ha </a:t>
            </a:r>
            <a:r>
              <a:rPr sz="1400" dirty="0" err="1"/>
              <a:t>proporcionado</a:t>
            </a:r>
            <a:r>
              <a:rPr sz="1400" dirty="0"/>
              <a:t> </a:t>
            </a:r>
            <a:r>
              <a:rPr sz="1400" dirty="0" err="1"/>
              <a:t>una</a:t>
            </a:r>
            <a:r>
              <a:rPr sz="1400" dirty="0"/>
              <a:t> base </a:t>
            </a:r>
            <a:r>
              <a:rPr sz="1400" dirty="0" err="1"/>
              <a:t>sólida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ciencias</a:t>
            </a:r>
            <a:r>
              <a:rPr sz="1400" dirty="0"/>
              <a:t> de la </a:t>
            </a:r>
            <a:r>
              <a:rPr sz="1400" dirty="0" err="1"/>
              <a:t>computación</a:t>
            </a:r>
            <a:r>
              <a:rPr sz="1400" dirty="0"/>
              <a:t>, </a:t>
            </a:r>
            <a:r>
              <a:rPr sz="1400" dirty="0" err="1"/>
              <a:t>alimentando</a:t>
            </a:r>
            <a:r>
              <a:rPr sz="1400" dirty="0"/>
              <a:t> mi </a:t>
            </a:r>
            <a:r>
              <a:rPr sz="1400" dirty="0" err="1"/>
              <a:t>pasión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la </a:t>
            </a:r>
            <a:r>
              <a:rPr sz="1400" dirty="0" err="1"/>
              <a:t>innovación</a:t>
            </a:r>
            <a:r>
              <a:rPr sz="1400" dirty="0"/>
              <a:t> y la </a:t>
            </a:r>
            <a:r>
              <a:rPr sz="1400" dirty="0" err="1"/>
              <a:t>investigación</a:t>
            </a:r>
            <a:r>
              <a:rPr sz="1400" dirty="0"/>
              <a:t>.</a:t>
            </a:r>
            <a:endParaRPr lang="es-419" sz="1400" dirty="0"/>
          </a:p>
          <a:p>
            <a:pPr>
              <a:lnSpc>
                <a:spcPct val="140000"/>
              </a:lnSpc>
              <a:spcAft>
                <a:spcPts val="1600"/>
              </a:spcAft>
              <a:defRPr sz="1600"/>
            </a:pPr>
            <a:r>
              <a:rPr lang="es-CO" sz="1400" dirty="0"/>
              <a:t>Como Investigador de IA, </a:t>
            </a:r>
            <a:r>
              <a:rPr lang="es-CO" sz="1400" b="1" dirty="0">
                <a:solidFill>
                  <a:srgbClr val="2463EC"/>
                </a:solidFill>
              </a:rPr>
              <a:t>mi trabajo se ha centrado en afinamiento y la optimización de </a:t>
            </a:r>
            <a:r>
              <a:rPr lang="es-CO" sz="1400" b="1" i="1" dirty="0">
                <a:solidFill>
                  <a:srgbClr val="2463EC"/>
                </a:solidFill>
              </a:rPr>
              <a:t>Modelos de Lenguaje Grande (</a:t>
            </a:r>
            <a:r>
              <a:rPr lang="es-CO" sz="1400" b="1" i="1" dirty="0" err="1">
                <a:solidFill>
                  <a:srgbClr val="2463EC"/>
                </a:solidFill>
              </a:rPr>
              <a:t>LLMs</a:t>
            </a:r>
            <a:r>
              <a:rPr lang="es-CO" sz="1400" b="1" i="1" dirty="0">
                <a:solidFill>
                  <a:srgbClr val="2463EC"/>
                </a:solidFill>
              </a:rPr>
              <a:t>)</a:t>
            </a:r>
            <a:r>
              <a:rPr lang="es-CO" sz="1400" b="1" dirty="0">
                <a:solidFill>
                  <a:srgbClr val="2463EC"/>
                </a:solidFill>
              </a:rPr>
              <a:t> como Llama, GPT y </a:t>
            </a:r>
            <a:r>
              <a:rPr lang="es-CO" sz="1400" b="1" dirty="0" err="1">
                <a:solidFill>
                  <a:srgbClr val="2463EC"/>
                </a:solidFill>
              </a:rPr>
              <a:t>Deepseek</a:t>
            </a:r>
            <a:r>
              <a:rPr lang="es-CO" sz="1400" b="1" dirty="0">
                <a:solidFill>
                  <a:srgbClr val="2463EC"/>
                </a:solidFill>
              </a:rPr>
              <a:t>, creando </a:t>
            </a:r>
            <a:r>
              <a:rPr lang="es-CO" sz="1400" b="1" dirty="0" err="1">
                <a:solidFill>
                  <a:srgbClr val="2463EC"/>
                </a:solidFill>
              </a:rPr>
              <a:t>chatbots</a:t>
            </a:r>
            <a:r>
              <a:rPr lang="es-CO" sz="1400" b="1" dirty="0">
                <a:solidFill>
                  <a:srgbClr val="2463EC"/>
                </a:solidFill>
              </a:rPr>
              <a:t> personalizados capaces de generar contenido útil para casos de uso específicos</a:t>
            </a:r>
            <a:r>
              <a:rPr lang="es-CO" sz="1400" dirty="0">
                <a:solidFill>
                  <a:srgbClr val="2463EC"/>
                </a:solidFill>
              </a:rPr>
              <a:t>. </a:t>
            </a:r>
            <a:r>
              <a:rPr lang="es-CO" sz="1400" dirty="0"/>
              <a:t>Mi objetivo es integrar la IA de manera eficiente para ayudar a los clientes con soluciones innovadoras utilizando tecnologías de vanguardia.</a:t>
            </a:r>
            <a:endParaRPr sz="1400" dirty="0"/>
          </a:p>
          <a:p>
            <a:pPr>
              <a:spcAft>
                <a:spcPts val="600"/>
              </a:spcAft>
              <a:defRPr sz="1500" b="1"/>
            </a:pPr>
            <a:r>
              <a:rPr sz="1400" dirty="0" err="1"/>
              <a:t>Proyectos</a:t>
            </a:r>
            <a:r>
              <a:rPr sz="1400" dirty="0"/>
              <a:t> </a:t>
            </a:r>
            <a:r>
              <a:rPr sz="1400" dirty="0" err="1"/>
              <a:t>destacados</a:t>
            </a:r>
            <a:r>
              <a:rPr sz="1400" dirty="0"/>
              <a:t>:</a:t>
            </a:r>
          </a:p>
          <a:p>
            <a:pPr marL="742950" lvl="1" indent="-285750">
              <a:spcAft>
                <a:spcPts val="400"/>
              </a:spcAft>
              <a:buClr>
                <a:srgbClr val="2463EC"/>
              </a:buClr>
              <a:buFont typeface="Letra del sistema regular"/>
              <a:buChar char="◉"/>
              <a:defRPr sz="1300"/>
            </a:pPr>
            <a:r>
              <a:rPr sz="1400" dirty="0" err="1"/>
              <a:t>Aplicación</a:t>
            </a:r>
            <a:r>
              <a:rPr sz="1400" dirty="0"/>
              <a:t> </a:t>
            </a:r>
            <a:r>
              <a:rPr sz="1400" dirty="0" err="1"/>
              <a:t>móvil</a:t>
            </a:r>
            <a:r>
              <a:rPr sz="1400" dirty="0"/>
              <a:t> de Punto de Venta (</a:t>
            </a:r>
            <a:r>
              <a:rPr lang="es-419" sz="1400" dirty="0"/>
              <a:t>SIRIS POS</a:t>
            </a:r>
            <a:r>
              <a:rPr sz="1400" dirty="0"/>
              <a:t>)</a:t>
            </a:r>
          </a:p>
          <a:p>
            <a:pPr marL="742950" lvl="1" indent="-285750">
              <a:spcAft>
                <a:spcPts val="400"/>
              </a:spcAft>
              <a:buClr>
                <a:srgbClr val="2463EC"/>
              </a:buClr>
              <a:buFont typeface="Letra del sistema regular"/>
              <a:buChar char="◉"/>
              <a:defRPr sz="1300"/>
            </a:pPr>
            <a:r>
              <a:rPr sz="1400" dirty="0" err="1"/>
              <a:t>Formularios</a:t>
            </a:r>
            <a:r>
              <a:rPr sz="1400" dirty="0"/>
              <a:t> de </a:t>
            </a:r>
            <a:r>
              <a:rPr sz="1400" dirty="0" err="1"/>
              <a:t>salud</a:t>
            </a:r>
            <a:r>
              <a:rPr sz="1400" dirty="0"/>
              <a:t> digital para </a:t>
            </a:r>
            <a:r>
              <a:rPr sz="1400" dirty="0" err="1"/>
              <a:t>el</a:t>
            </a:r>
            <a:r>
              <a:rPr sz="1400" dirty="0"/>
              <a:t> sector </a:t>
            </a:r>
            <a:r>
              <a:rPr sz="1400" dirty="0" err="1"/>
              <a:t>sanitario</a:t>
            </a:r>
            <a:r>
              <a:rPr lang="es-419" sz="1400" dirty="0"/>
              <a:t> (IFASORIS)</a:t>
            </a:r>
            <a:endParaRPr sz="1400" dirty="0"/>
          </a:p>
          <a:p>
            <a:pPr marL="742950" lvl="1" indent="-285750">
              <a:spcAft>
                <a:spcPts val="400"/>
              </a:spcAft>
              <a:buClr>
                <a:srgbClr val="2463EC"/>
              </a:buClr>
              <a:buFont typeface="Letra del sistema regular"/>
              <a:buChar char="◉"/>
              <a:defRPr sz="1300"/>
            </a:pPr>
            <a:r>
              <a:rPr sz="1400" dirty="0" err="1"/>
              <a:t>Aplicación</a:t>
            </a:r>
            <a:r>
              <a:rPr sz="1400" dirty="0"/>
              <a:t> web </a:t>
            </a:r>
            <a:r>
              <a:rPr sz="1400" dirty="0" err="1"/>
              <a:t>educativa</a:t>
            </a:r>
            <a:r>
              <a:rPr sz="1400" dirty="0"/>
              <a:t> con </a:t>
            </a:r>
            <a:r>
              <a:rPr sz="1400" dirty="0" err="1"/>
              <a:t>modelos</a:t>
            </a:r>
            <a:r>
              <a:rPr sz="1400" dirty="0"/>
              <a:t> de </a:t>
            </a:r>
            <a:r>
              <a:rPr sz="1400" dirty="0" err="1"/>
              <a:t>código</a:t>
            </a:r>
            <a:r>
              <a:rPr sz="1400" dirty="0"/>
              <a:t> </a:t>
            </a:r>
            <a:r>
              <a:rPr sz="1400" dirty="0" err="1"/>
              <a:t>abierto</a:t>
            </a:r>
            <a:r>
              <a:rPr sz="1400" dirty="0"/>
              <a:t> (Llama </a:t>
            </a:r>
            <a:r>
              <a:rPr lang="es-419" sz="1400" dirty="0"/>
              <a:t>2</a:t>
            </a:r>
            <a:r>
              <a:rPr sz="1400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3716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Soluciones y Productos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F8F9F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Lynex - Gestión Omnicanal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Plataforma SaaS que centraliza WhatsApp, Email y Webchat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8046720" cy="594360"/>
          </a:xfrm>
          <a:prstGeom prst="rect">
            <a:avLst/>
          </a:prstGeom>
          <a:solidFill>
            <a:srgbClr val="F8F9F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56231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Bots Inteligentes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Chatbots y asistentes virtuales con procesamiento de lenguaje natural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8046720" cy="594360"/>
          </a:xfrm>
          <a:prstGeom prst="rect">
            <a:avLst/>
          </a:prstGeom>
          <a:solidFill>
            <a:srgbClr val="F8F9F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74457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dirty="0" err="1"/>
              <a:t>Aplicaciones</a:t>
            </a:r>
            <a:r>
              <a:rPr dirty="0"/>
              <a:t> con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Desarrollo de aplicaciones inteligentes con modelos personalizados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8046720" cy="594360"/>
          </a:xfrm>
          <a:prstGeom prst="rect">
            <a:avLst/>
          </a:prstGeom>
          <a:solidFill>
            <a:srgbClr val="F8F9F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22783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Infraestructura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5643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Arquitectura escalable y segura con auto-scaling y backups automáticos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8046720" cy="594360"/>
          </a:xfrm>
          <a:prstGeom prst="rect">
            <a:avLst/>
          </a:prstGeom>
          <a:solidFill>
            <a:srgbClr val="F8F9F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91363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WhatsApp Business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4223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Automatización de comunicaciones empresariales y soporte 24/7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D923971-8F6B-E1F0-6CA4-C83867F89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746" y="787916"/>
            <a:ext cx="1284731" cy="1284731"/>
          </a:xfrm>
          <a:prstGeom prst="rect">
            <a:avLst/>
          </a:prstGeom>
        </p:spPr>
      </p:pic>
      <p:pic>
        <p:nvPicPr>
          <p:cNvPr id="24" name="Gráfico 23" descr="Robot con relleno sólido">
            <a:extLst>
              <a:ext uri="{FF2B5EF4-FFF2-40B4-BE49-F238E27FC236}">
                <a16:creationId xmlns:a16="http://schemas.microsoft.com/office/drawing/2014/main" id="{D409C59E-19B4-1344-64D7-77994BEB5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8416" y="1769415"/>
            <a:ext cx="643094" cy="643094"/>
          </a:xfrm>
          <a:prstGeom prst="rect">
            <a:avLst/>
          </a:prstGeom>
        </p:spPr>
      </p:pic>
      <p:pic>
        <p:nvPicPr>
          <p:cNvPr id="26" name="Gráfico 25" descr="Internet Of Things con relleno sólido">
            <a:extLst>
              <a:ext uri="{FF2B5EF4-FFF2-40B4-BE49-F238E27FC236}">
                <a16:creationId xmlns:a16="http://schemas.microsoft.com/office/drawing/2014/main" id="{9A2F6BDD-D506-C63C-8D88-D488AF64E1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8416" y="3115090"/>
            <a:ext cx="643094" cy="643094"/>
          </a:xfrm>
          <a:prstGeom prst="rect">
            <a:avLst/>
          </a:prstGeom>
        </p:spPr>
      </p:pic>
      <p:pic>
        <p:nvPicPr>
          <p:cNvPr id="28" name="Gráfico 27" descr="Ui Ux con relleno sólido">
            <a:extLst>
              <a:ext uri="{FF2B5EF4-FFF2-40B4-BE49-F238E27FC236}">
                <a16:creationId xmlns:a16="http://schemas.microsoft.com/office/drawing/2014/main" id="{43B63559-B5C8-CB2E-FE11-B826DAFDBF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75737" y="2455215"/>
            <a:ext cx="643094" cy="643094"/>
          </a:xfrm>
          <a:prstGeom prst="rect">
            <a:avLst/>
          </a:prstGeom>
        </p:spPr>
      </p:pic>
      <p:pic>
        <p:nvPicPr>
          <p:cNvPr id="30" name="Gráfico 29" descr="Receiver con relleno sólido">
            <a:extLst>
              <a:ext uri="{FF2B5EF4-FFF2-40B4-BE49-F238E27FC236}">
                <a16:creationId xmlns:a16="http://schemas.microsoft.com/office/drawing/2014/main" id="{468DDFCF-36A7-4592-B68F-59A4045EC2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12783" y="3840731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3716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Lynex - Gestión Omnicanal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Plataforma SaaS profesional a la medida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840480" cy="239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/>
            </a:pPr>
            <a:r>
              <a:rPr dirty="0" err="1"/>
              <a:t>Centraliza</a:t>
            </a:r>
            <a:r>
              <a:rPr dirty="0"/>
              <a:t> WhatsApp, Email y Webchat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interfaz</a:t>
            </a:r>
            <a:endParaRPr dirty="0"/>
          </a:p>
          <a:p>
            <a:pPr>
              <a:spcAft>
                <a:spcPts val="1600"/>
              </a:spcAft>
              <a:defRPr sz="1400"/>
            </a:pPr>
            <a:r>
              <a:rPr dirty="0"/>
              <a:t>Lynex </a:t>
            </a:r>
            <a:r>
              <a:rPr dirty="0" err="1"/>
              <a:t>ofrece</a:t>
            </a:r>
            <a:r>
              <a:rPr dirty="0"/>
              <a:t> </a:t>
            </a:r>
            <a:r>
              <a:rPr dirty="0" err="1"/>
              <a:t>integraciones</a:t>
            </a:r>
            <a:r>
              <a:rPr dirty="0"/>
              <a:t> con </a:t>
            </a:r>
            <a:r>
              <a:rPr dirty="0" err="1"/>
              <a:t>sistemas</a:t>
            </a:r>
            <a:r>
              <a:rPr dirty="0"/>
              <a:t> del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un </a:t>
            </a:r>
            <a:r>
              <a:rPr dirty="0" err="1"/>
              <a:t>servicio</a:t>
            </a:r>
            <a:r>
              <a:rPr dirty="0"/>
              <a:t> </a:t>
            </a:r>
            <a:r>
              <a:rPr dirty="0" err="1"/>
              <a:t>profesional</a:t>
            </a:r>
            <a:r>
              <a:rPr dirty="0"/>
              <a:t> a la </a:t>
            </a:r>
            <a:r>
              <a:rPr dirty="0" err="1"/>
              <a:t>medida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rPr dirty="0" err="1"/>
              <a:t>Características</a:t>
            </a:r>
            <a:r>
              <a:rPr dirty="0"/>
              <a:t> clave:</a:t>
            </a:r>
          </a:p>
          <a:p>
            <a:pPr marL="628650" lvl="1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</a:t>
            </a:r>
            <a:r>
              <a:rPr dirty="0" err="1"/>
              <a:t>personalizado</a:t>
            </a:r>
            <a:endParaRPr dirty="0"/>
          </a:p>
          <a:p>
            <a:pPr marL="628650" lvl="1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/>
              <a:t>Desarrollo e </a:t>
            </a:r>
            <a:r>
              <a:rPr dirty="0" err="1"/>
              <a:t>implementación</a:t>
            </a:r>
            <a:r>
              <a:rPr dirty="0"/>
              <a:t> a </a:t>
            </a:r>
            <a:r>
              <a:rPr dirty="0" err="1"/>
              <a:t>medida</a:t>
            </a:r>
            <a:endParaRPr dirty="0"/>
          </a:p>
          <a:p>
            <a:pPr marL="628650" lvl="1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 err="1"/>
              <a:t>Pruebas</a:t>
            </a:r>
            <a:r>
              <a:rPr dirty="0"/>
              <a:t> y </a:t>
            </a:r>
            <a:r>
              <a:rPr dirty="0" err="1"/>
              <a:t>mantenimiento</a:t>
            </a:r>
            <a:r>
              <a:rPr dirty="0"/>
              <a:t> continuo</a:t>
            </a:r>
          </a:p>
          <a:p>
            <a:pPr marL="628650" lvl="1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 err="1"/>
              <a:t>Soporte</a:t>
            </a:r>
            <a:r>
              <a:rPr dirty="0"/>
              <a:t> </a:t>
            </a:r>
            <a:r>
              <a:rPr dirty="0" err="1"/>
              <a:t>profesional</a:t>
            </a:r>
            <a:r>
              <a:rPr dirty="0"/>
              <a:t> </a:t>
            </a:r>
            <a:r>
              <a:rPr dirty="0" err="1"/>
              <a:t>dedicado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754880" y="2743200"/>
            <a:ext cx="3657600" cy="192024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68494" y="3703320"/>
            <a:ext cx="3230372" cy="8771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rPr sz="2800" dirty="0"/>
              <a:t>3 </a:t>
            </a:r>
            <a:r>
              <a:rPr sz="2800" dirty="0" err="1"/>
              <a:t>en</a:t>
            </a:r>
            <a:r>
              <a:rPr sz="2800" dirty="0"/>
              <a:t> 1</a:t>
            </a:r>
          </a:p>
          <a:p>
            <a:pPr algn="ctr">
              <a:spcBef>
                <a:spcPts val="1200"/>
              </a:spcBef>
              <a:defRPr sz="1300"/>
            </a:pPr>
            <a:r>
              <a:rPr dirty="0"/>
              <a:t>Una </a:t>
            </a:r>
            <a:r>
              <a:rPr dirty="0" err="1"/>
              <a:t>interfaz</a:t>
            </a:r>
            <a:r>
              <a:rPr dirty="0"/>
              <a:t> </a:t>
            </a:r>
            <a:r>
              <a:rPr dirty="0" err="1"/>
              <a:t>unificada</a:t>
            </a:r>
            <a:r>
              <a:rPr dirty="0"/>
              <a:t> para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tus</a:t>
            </a:r>
            <a:r>
              <a:rPr dirty="0"/>
              <a:t> canales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E39E21C-42BB-175F-E0CB-0A2C5F9BB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79" y="2145893"/>
            <a:ext cx="3657600" cy="2434590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39C37115-0207-EB71-B884-4848539DBA5A}"/>
              </a:ext>
            </a:extLst>
          </p:cNvPr>
          <p:cNvSpPr/>
          <p:nvPr/>
        </p:nvSpPr>
        <p:spPr>
          <a:xfrm>
            <a:off x="4754880" y="920115"/>
            <a:ext cx="3657600" cy="1645920"/>
          </a:xfrm>
          <a:prstGeom prst="rect">
            <a:avLst/>
          </a:prstGeom>
          <a:solidFill>
            <a:srgbClr val="F0FDF4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613EDDC7-EEA1-367E-F6A8-19EDDF36C9D8}"/>
              </a:ext>
            </a:extLst>
          </p:cNvPr>
          <p:cNvSpPr txBox="1"/>
          <p:nvPr/>
        </p:nvSpPr>
        <p:spPr>
          <a:xfrm>
            <a:off x="4754880" y="1845746"/>
            <a:ext cx="3657600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rPr dirty="0"/>
              <a:t>Caso de </a:t>
            </a:r>
            <a:r>
              <a:rPr dirty="0" err="1"/>
              <a:t>éxito</a:t>
            </a:r>
            <a:endParaRPr dirty="0"/>
          </a:p>
          <a:p>
            <a:pPr algn="ctr">
              <a:spcBef>
                <a:spcPts val="400"/>
              </a:spcBef>
              <a:defRPr sz="1100"/>
            </a:pPr>
            <a:r>
              <a:rPr lang="es-CO" dirty="0"/>
              <a:t>Analítica de datos y gestión </a:t>
            </a:r>
            <a:r>
              <a:rPr lang="es-CO" dirty="0" err="1"/>
              <a:t>omnicanal</a:t>
            </a:r>
            <a:r>
              <a:rPr lang="es-CO" dirty="0"/>
              <a:t> para distribución de medicamentos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6729A8E-0203-FDB6-E5EA-4A1FC7E63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690" y="950254"/>
            <a:ext cx="1237979" cy="8954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3716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Bots Inteligentes con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Asistentes virtuales con procesamiento de lenguaje natural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11480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/>
            </a:pPr>
            <a:r>
              <a:rPr dirty="0"/>
              <a:t>Chatbots y </a:t>
            </a:r>
            <a:r>
              <a:rPr dirty="0" err="1"/>
              <a:t>asistentes</a:t>
            </a:r>
            <a:r>
              <a:rPr dirty="0"/>
              <a:t> </a:t>
            </a:r>
            <a:r>
              <a:rPr dirty="0" err="1"/>
              <a:t>virtuales</a:t>
            </a:r>
            <a:r>
              <a:rPr dirty="0"/>
              <a:t> con NLP </a:t>
            </a:r>
            <a:r>
              <a:rPr dirty="0" err="1"/>
              <a:t>avanzado</a:t>
            </a:r>
            <a:endParaRPr dirty="0"/>
          </a:p>
          <a:p>
            <a:pPr>
              <a:spcAft>
                <a:spcPts val="1400"/>
              </a:spcAft>
              <a:defRPr sz="1400"/>
            </a:pPr>
            <a:r>
              <a:rPr dirty="0" err="1"/>
              <a:t>Integración</a:t>
            </a:r>
            <a:r>
              <a:rPr dirty="0"/>
              <a:t> con </a:t>
            </a:r>
            <a:r>
              <a:rPr dirty="0" err="1"/>
              <a:t>sistemas</a:t>
            </a:r>
            <a:r>
              <a:rPr dirty="0"/>
              <a:t> de </a:t>
            </a:r>
            <a:r>
              <a:rPr dirty="0" err="1"/>
              <a:t>atención</a:t>
            </a:r>
            <a:r>
              <a:rPr dirty="0"/>
              <a:t> al </a:t>
            </a:r>
            <a:r>
              <a:rPr dirty="0" err="1"/>
              <a:t>cliente</a:t>
            </a:r>
            <a:r>
              <a:rPr dirty="0"/>
              <a:t> para </a:t>
            </a:r>
            <a:r>
              <a:rPr dirty="0" err="1"/>
              <a:t>automatizar</a:t>
            </a:r>
            <a:r>
              <a:rPr dirty="0"/>
              <a:t> </a:t>
            </a:r>
            <a:r>
              <a:rPr dirty="0" err="1"/>
              <a:t>respuestas</a:t>
            </a:r>
            <a:r>
              <a:rPr dirty="0"/>
              <a:t> y </a:t>
            </a:r>
            <a:r>
              <a:rPr dirty="0" err="1"/>
              <a:t>mejorar</a:t>
            </a:r>
            <a:r>
              <a:rPr dirty="0"/>
              <a:t> la </a:t>
            </a:r>
            <a:r>
              <a:rPr dirty="0" err="1"/>
              <a:t>eficiencia</a:t>
            </a:r>
            <a:r>
              <a:rPr dirty="0"/>
              <a:t> </a:t>
            </a:r>
            <a:r>
              <a:rPr dirty="0" err="1"/>
              <a:t>operativa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rPr dirty="0" err="1"/>
              <a:t>Beneficios</a:t>
            </a:r>
            <a:r>
              <a:rPr dirty="0"/>
              <a:t> clave:</a:t>
            </a:r>
          </a:p>
          <a:p>
            <a:pPr marL="171450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/>
              <a:t>Respuesta </a:t>
            </a:r>
            <a:r>
              <a:rPr dirty="0" err="1"/>
              <a:t>automática</a:t>
            </a:r>
            <a:r>
              <a:rPr dirty="0"/>
              <a:t> 24/7</a:t>
            </a:r>
          </a:p>
          <a:p>
            <a:pPr marL="171450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 err="1"/>
              <a:t>Reducción</a:t>
            </a:r>
            <a:r>
              <a:rPr dirty="0"/>
              <a:t> de carga </a:t>
            </a:r>
            <a:r>
              <a:rPr dirty="0" err="1"/>
              <a:t>operativa</a:t>
            </a:r>
            <a:endParaRPr dirty="0"/>
          </a:p>
          <a:p>
            <a:pPr marL="171450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 err="1"/>
              <a:t>Integración</a:t>
            </a:r>
            <a:r>
              <a:rPr dirty="0"/>
              <a:t> con </a:t>
            </a:r>
            <a:r>
              <a:rPr dirty="0" err="1"/>
              <a:t>sistemas</a:t>
            </a:r>
            <a:r>
              <a:rPr dirty="0"/>
              <a:t> EPS</a:t>
            </a:r>
            <a:endParaRPr lang="es-419" dirty="0"/>
          </a:p>
          <a:p>
            <a:pPr marL="171450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conversaciones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5029201" y="2847239"/>
            <a:ext cx="3291840" cy="1816201"/>
          </a:xfrm>
          <a:prstGeom prst="rect">
            <a:avLst/>
          </a:prstGeom>
          <a:solidFill>
            <a:srgbClr val="2563E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1458" y="3178327"/>
            <a:ext cx="3291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rPr dirty="0" err="1"/>
              <a:t>Tecnologías</a:t>
            </a:r>
            <a:r>
              <a:rPr dirty="0"/>
              <a:t> </a:t>
            </a:r>
            <a:r>
              <a:rPr dirty="0" err="1"/>
              <a:t>implementadas</a:t>
            </a:r>
            <a:endParaRPr dirty="0"/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• NLP Avanzado  • WhatsApp Business</a:t>
            </a:r>
          </a:p>
          <a:p>
            <a:pPr algn="ctr"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Integración</a:t>
            </a:r>
            <a:r>
              <a:rPr dirty="0"/>
              <a:t> EPS  • </a:t>
            </a:r>
            <a:r>
              <a:rPr dirty="0" err="1"/>
              <a:t>Automatización</a:t>
            </a:r>
            <a:r>
              <a:rPr dirty="0"/>
              <a:t> 24/7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3C83FF31-E875-7E7D-0499-590F6194EA6F}"/>
              </a:ext>
            </a:extLst>
          </p:cNvPr>
          <p:cNvSpPr/>
          <p:nvPr/>
        </p:nvSpPr>
        <p:spPr>
          <a:xfrm>
            <a:off x="5029200" y="915569"/>
            <a:ext cx="3316357" cy="1748790"/>
          </a:xfrm>
          <a:prstGeom prst="rect">
            <a:avLst/>
          </a:prstGeom>
          <a:solidFill>
            <a:srgbClr val="F0F7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200"/>
            </a:pP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7C21586A-F0B9-AE85-A9BF-2158236F707C}"/>
              </a:ext>
            </a:extLst>
          </p:cNvPr>
          <p:cNvSpPr txBox="1"/>
          <p:nvPr/>
        </p:nvSpPr>
        <p:spPr>
          <a:xfrm>
            <a:off x="5029200" y="1373938"/>
            <a:ext cx="3316357" cy="1436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endParaRPr lang="es-419" dirty="0"/>
          </a:p>
          <a:p>
            <a:pPr algn="ctr">
              <a:defRPr sz="1400" b="1">
                <a:solidFill>
                  <a:srgbClr val="2563EB"/>
                </a:solidFill>
              </a:defRPr>
            </a:pPr>
            <a:endParaRPr lang="es-CO" dirty="0"/>
          </a:p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dirty="0"/>
              <a:t>Caso de </a:t>
            </a:r>
            <a:r>
              <a:rPr dirty="0" err="1"/>
              <a:t>éxito</a:t>
            </a:r>
            <a:endParaRPr lang="es-419" dirty="0"/>
          </a:p>
          <a:p>
            <a:pPr algn="ctr">
              <a:spcBef>
                <a:spcPts val="600"/>
              </a:spcBef>
              <a:defRPr sz="1200"/>
            </a:pPr>
            <a:r>
              <a:rPr lang="es-CO" dirty="0"/>
              <a:t>Bot inteligente de agendamiento de citas para EPS</a:t>
            </a:r>
          </a:p>
          <a:p>
            <a:pPr algn="ctr"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rPr lang="es-CO" dirty="0"/>
              <a:t>Automatización completa del proceso de citas médicas</a:t>
            </a:r>
          </a:p>
          <a:p>
            <a:pPr algn="ctr">
              <a:defRPr sz="1400" b="1">
                <a:solidFill>
                  <a:srgbClr val="2563EB"/>
                </a:solidFill>
              </a:defRPr>
            </a:pP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F8CB293-768A-CE52-E154-2D9E9D34F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361" y="1018439"/>
            <a:ext cx="1310034" cy="7074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3716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Aplicaciones con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Soluciones inteligentes personalizadas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/>
            </a:pPr>
            <a:r>
              <a:t>Desarrollo de aplicaciones inteligentes que integran modelos de IA personalizados</a:t>
            </a:r>
          </a:p>
          <a:p>
            <a:pPr>
              <a:defRPr sz="1400"/>
            </a:pPr>
            <a:r>
              <a:t>Aplicaciones para análisis de datos, visión por computador y toma de decisiones automatizada.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931920" cy="210312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657972" cy="1179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rPr dirty="0"/>
              <a:t>Casos de </a:t>
            </a:r>
            <a:r>
              <a:rPr dirty="0" err="1"/>
              <a:t>uso</a:t>
            </a:r>
            <a:endParaRPr dirty="0"/>
          </a:p>
          <a:p>
            <a:pPr marL="628650" lvl="1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predictivo</a:t>
            </a:r>
            <a:r>
              <a:rPr dirty="0"/>
              <a:t> de </a:t>
            </a:r>
            <a:r>
              <a:rPr dirty="0" err="1"/>
              <a:t>datos</a:t>
            </a:r>
            <a:endParaRPr dirty="0"/>
          </a:p>
          <a:p>
            <a:pPr marL="628650" lvl="1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 err="1"/>
              <a:t>Clasificación</a:t>
            </a:r>
            <a:r>
              <a:rPr dirty="0"/>
              <a:t> </a:t>
            </a:r>
            <a:r>
              <a:rPr dirty="0" err="1"/>
              <a:t>automática</a:t>
            </a:r>
            <a:endParaRPr dirty="0"/>
          </a:p>
          <a:p>
            <a:pPr marL="628650" lvl="1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/>
              <a:t>Generación de </a:t>
            </a:r>
            <a:r>
              <a:rPr dirty="0" err="1"/>
              <a:t>contenido</a:t>
            </a:r>
            <a:endParaRPr dirty="0"/>
          </a:p>
          <a:p>
            <a:pPr marL="628650" lvl="1" indent="-171450">
              <a:buClr>
                <a:srgbClr val="2463EC"/>
              </a:buClr>
              <a:buFont typeface="Letra del sistema regular"/>
              <a:buChar char="◉"/>
              <a:defRPr sz="1200"/>
            </a:pPr>
            <a:r>
              <a:rPr dirty="0" err="1"/>
              <a:t>Asistentes</a:t>
            </a:r>
            <a:r>
              <a:rPr dirty="0"/>
              <a:t> de </a:t>
            </a:r>
            <a:r>
              <a:rPr dirty="0" err="1"/>
              <a:t>documentación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663440" y="2468880"/>
            <a:ext cx="3931920" cy="21031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2651760"/>
            <a:ext cx="1168781" cy="6412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rPr dirty="0" err="1"/>
              <a:t>Tecnologías</a:t>
            </a:r>
            <a:endParaRPr dirty="0"/>
          </a:p>
          <a:p>
            <a:pPr>
              <a:defRPr sz="1300"/>
            </a:pP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E416CB9-B5F6-459B-D862-31C1B442E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551" y="3026261"/>
            <a:ext cx="2070100" cy="2512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D3BD136-164B-1178-FFCB-601752D86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551" y="3385346"/>
            <a:ext cx="2070100" cy="2667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686918E-5C9F-1EB7-0401-517C0ADE3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551" y="3759847"/>
            <a:ext cx="1731138" cy="2603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3716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Infraestructura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Arquitectura escalable y segura en la nube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/>
            </a:pPr>
            <a:r>
              <a:t>Soluciones robustas con auto-scaling, backups automáticos y alta disponibilidad</a:t>
            </a:r>
          </a:p>
          <a:p>
            <a:pPr>
              <a:defRPr sz="1400"/>
            </a:pPr>
            <a:r>
              <a:t>Implementación de arquitectura escalable y segura en la nube para aplicaciones empresariales.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188720"/>
            <a:ext cx="3657600" cy="3474720"/>
          </a:xfrm>
          <a:prstGeom prst="rect">
            <a:avLst/>
          </a:prstGeom>
          <a:solidFill>
            <a:srgbClr val="2563E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0" y="1371600"/>
            <a:ext cx="32918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Características principales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Auto-scaling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Escalado automático según demanda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Backups automáticos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Copias de seguridad programadas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Alta disponibilidad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99.9% uptime garantizado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Monitoreo 24/7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Supervisión continua del sistema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3716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WhatsApp Business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Automatización de comunicaciones empresariales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/>
            </a:pPr>
            <a:r>
              <a:t>Envío masivo de notificaciones, chatbots transaccionales y soporte 24/7</a:t>
            </a:r>
          </a:p>
          <a:p>
            <a:pPr>
              <a:defRPr sz="1400"/>
            </a:pPr>
            <a:r>
              <a:t>Automatización de comunicaciones empresariales a través de WhatsApp con integración completa a sistemas existentes.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931920" cy="228600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630720" cy="1528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rPr dirty="0" err="1"/>
              <a:t>Funcionalidades</a:t>
            </a:r>
            <a:endParaRPr dirty="0"/>
          </a:p>
          <a:p>
            <a:pPr marL="742950" lvl="1" indent="-285750">
              <a:buClr>
                <a:srgbClr val="2463EC"/>
              </a:buClr>
              <a:buFont typeface="Letra del sistema regular"/>
              <a:buChar char="◉"/>
              <a:defRPr sz="1300">
                <a:solidFill>
                  <a:srgbClr val="FFFFFF"/>
                </a:solidFill>
              </a:defRPr>
            </a:pPr>
            <a:r>
              <a:rPr dirty="0" err="1"/>
              <a:t>Notificaciones</a:t>
            </a:r>
            <a:r>
              <a:rPr dirty="0"/>
              <a:t> </a:t>
            </a:r>
            <a:r>
              <a:rPr dirty="0" err="1"/>
              <a:t>masivas</a:t>
            </a:r>
            <a:endParaRPr dirty="0"/>
          </a:p>
          <a:p>
            <a:pPr marL="742950" lvl="1" indent="-285750">
              <a:buClr>
                <a:srgbClr val="2463EC"/>
              </a:buClr>
              <a:buFont typeface="Letra del sistema regular"/>
              <a:buChar char="◉"/>
              <a:defRPr sz="1300">
                <a:solidFill>
                  <a:srgbClr val="FFFFFF"/>
                </a:solidFill>
              </a:defRPr>
            </a:pPr>
            <a:r>
              <a:rPr dirty="0"/>
              <a:t>Chatbots </a:t>
            </a:r>
            <a:r>
              <a:rPr dirty="0" err="1"/>
              <a:t>transaccionales</a:t>
            </a:r>
            <a:endParaRPr dirty="0"/>
          </a:p>
          <a:p>
            <a:pPr marL="742950" lvl="1" indent="-285750">
              <a:buClr>
                <a:srgbClr val="2463EC"/>
              </a:buClr>
              <a:buFont typeface="Letra del sistema regular"/>
              <a:buChar char="◉"/>
              <a:defRPr sz="1300">
                <a:solidFill>
                  <a:srgbClr val="FFFFFF"/>
                </a:solidFill>
              </a:defRPr>
            </a:pPr>
            <a:r>
              <a:rPr dirty="0" err="1"/>
              <a:t>Integración</a:t>
            </a:r>
            <a:r>
              <a:rPr dirty="0"/>
              <a:t> con CRM</a:t>
            </a:r>
          </a:p>
          <a:p>
            <a:pPr marL="742950" lvl="1" indent="-285750">
              <a:buClr>
                <a:srgbClr val="2463EC"/>
              </a:buClr>
              <a:buFont typeface="Letra del sistema regular"/>
              <a:buChar char="◉"/>
              <a:defRPr sz="1300">
                <a:solidFill>
                  <a:srgbClr val="FFFFFF"/>
                </a:solidFill>
              </a:defRPr>
            </a:pPr>
            <a:r>
              <a:rPr dirty="0" err="1"/>
              <a:t>Respuestas</a:t>
            </a:r>
            <a:r>
              <a:rPr dirty="0"/>
              <a:t> </a:t>
            </a:r>
            <a:r>
              <a:rPr dirty="0" err="1"/>
              <a:t>automáticas</a:t>
            </a:r>
            <a:endParaRPr dirty="0"/>
          </a:p>
          <a:p>
            <a:pPr marL="742950" lvl="1" indent="-285750">
              <a:buClr>
                <a:srgbClr val="2463EC"/>
              </a:buClr>
              <a:buFont typeface="Letra del sistema regular"/>
              <a:buChar char="◉"/>
              <a:defRPr sz="1300">
                <a:solidFill>
                  <a:srgbClr val="FFFFFF"/>
                </a:solidFill>
              </a:defRPr>
            </a:pPr>
            <a:r>
              <a:rPr dirty="0" err="1"/>
              <a:t>Soporte</a:t>
            </a:r>
            <a:r>
              <a:rPr dirty="0"/>
              <a:t> </a:t>
            </a:r>
            <a:r>
              <a:rPr dirty="0" err="1"/>
              <a:t>multiagente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818888" y="2461312"/>
            <a:ext cx="3776472" cy="228600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80D0C9B1-DF66-DF7B-D951-4C7D36822B22}"/>
              </a:ext>
            </a:extLst>
          </p:cNvPr>
          <p:cNvSpPr/>
          <p:nvPr/>
        </p:nvSpPr>
        <p:spPr>
          <a:xfrm>
            <a:off x="5456009" y="4095851"/>
            <a:ext cx="2337499" cy="28112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extBox 8"/>
          <p:cNvSpPr txBox="1"/>
          <p:nvPr/>
        </p:nvSpPr>
        <p:spPr>
          <a:xfrm>
            <a:off x="5423949" y="2855262"/>
            <a:ext cx="2401619" cy="151323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200" b="1">
                <a:solidFill>
                  <a:srgbClr val="2563EB"/>
                </a:solidFill>
              </a:defRPr>
            </a:pPr>
            <a:r>
              <a:rPr dirty="0"/>
              <a:t>24/7</a:t>
            </a:r>
          </a:p>
          <a:p>
            <a:pPr algn="ctr">
              <a:spcBef>
                <a:spcPts val="800"/>
              </a:spcBef>
              <a:defRPr sz="1600" b="1"/>
            </a:pPr>
            <a:r>
              <a:rPr dirty="0" err="1"/>
              <a:t>Disponibilidad</a:t>
            </a:r>
            <a:r>
              <a:rPr dirty="0"/>
              <a:t> continua</a:t>
            </a:r>
            <a:endParaRPr lang="es-419" dirty="0"/>
          </a:p>
          <a:p>
            <a:pPr algn="ctr">
              <a:spcBef>
                <a:spcPts val="800"/>
              </a:spcBef>
              <a:defRPr sz="1600" b="1"/>
            </a:pPr>
            <a:r>
              <a:rPr lang="es-CO" sz="1100" dirty="0">
                <a:solidFill>
                  <a:srgbClr val="2463EC"/>
                </a:solidFill>
              </a:rPr>
              <a:t>      Proveedores certificados por Meta</a:t>
            </a:r>
            <a:endParaRPr sz="1100" dirty="0">
              <a:solidFill>
                <a:srgbClr val="2463EC"/>
              </a:solidFill>
            </a:endParaRPr>
          </a:p>
        </p:txBody>
      </p:sp>
      <p:pic>
        <p:nvPicPr>
          <p:cNvPr id="11" name="Gráfico 10" descr="Diploma con relleno sólido">
            <a:extLst>
              <a:ext uri="{FF2B5EF4-FFF2-40B4-BE49-F238E27FC236}">
                <a16:creationId xmlns:a16="http://schemas.microsoft.com/office/drawing/2014/main" id="{9D3E68C9-EEF4-70E7-7EBB-264322907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3090" y="4147169"/>
            <a:ext cx="177184" cy="177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3716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Nuestros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Casos de éxito que transforman negocios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840480" cy="3200400"/>
          </a:xfrm>
          <a:prstGeom prst="rect">
            <a:avLst/>
          </a:prstGeom>
          <a:solidFill>
            <a:srgbClr val="F0F7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0775" y="2360583"/>
            <a:ext cx="2759089" cy="20056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rPr lang="es-419" dirty="0"/>
              <a:t>Cronhis Asistencial</a:t>
            </a:r>
            <a:endParaRPr dirty="0"/>
          </a:p>
          <a:p>
            <a:pPr>
              <a:spcAft>
                <a:spcPts val="1000"/>
              </a:spcAft>
              <a:defRPr sz="1400" b="1"/>
            </a:pPr>
            <a:r>
              <a:rPr lang="es-CO" dirty="0"/>
              <a:t>Solución: Bot de Agendamiento IA</a:t>
            </a:r>
          </a:p>
          <a:p>
            <a:pPr>
              <a:spcAft>
                <a:spcPts val="600"/>
              </a:spcAft>
              <a:defRPr sz="1200"/>
            </a:pPr>
            <a:r>
              <a:rPr lang="es-CO" dirty="0"/>
              <a:t>Industria: Salud (EPS)</a:t>
            </a:r>
          </a:p>
          <a:p>
            <a:pPr>
              <a:spcAft>
                <a:spcPts val="600"/>
              </a:spcAft>
              <a:defRPr sz="1200" b="1"/>
            </a:pPr>
            <a:r>
              <a:rPr lang="es-CO" dirty="0"/>
              <a:t>Resultados:</a:t>
            </a:r>
          </a:p>
          <a:p>
            <a:pPr marL="171450" indent="-171450">
              <a:spcAft>
                <a:spcPts val="300"/>
              </a:spcAft>
              <a:buClr>
                <a:srgbClr val="2463EC"/>
              </a:buClr>
              <a:buFont typeface="Letra del sistema regular"/>
              <a:buChar char="◉"/>
              <a:defRPr sz="1100"/>
            </a:pPr>
            <a:r>
              <a:rPr lang="es-CO" dirty="0"/>
              <a:t>Automatización completa de citas</a:t>
            </a:r>
          </a:p>
          <a:p>
            <a:pPr marL="171450" indent="-171450">
              <a:spcAft>
                <a:spcPts val="300"/>
              </a:spcAft>
              <a:buClr>
                <a:srgbClr val="2463EC"/>
              </a:buClr>
              <a:buFont typeface="Letra del sistema regular"/>
              <a:buChar char="◉"/>
              <a:defRPr sz="1100"/>
            </a:pPr>
            <a:r>
              <a:rPr lang="es-CO" dirty="0"/>
              <a:t>Reducción 80% en tiempo de gestión</a:t>
            </a:r>
          </a:p>
          <a:p>
            <a:pPr marL="171450" indent="-171450">
              <a:spcAft>
                <a:spcPts val="300"/>
              </a:spcAft>
              <a:buClr>
                <a:srgbClr val="2463EC"/>
              </a:buClr>
              <a:buFont typeface="Letra del sistema regular"/>
              <a:buChar char="◉"/>
              <a:defRPr sz="1100"/>
            </a:pPr>
            <a:r>
              <a:rPr lang="es-CO" dirty="0"/>
              <a:t>Disponibilidad 24/7 para pacientes</a:t>
            </a:r>
            <a:endParaRPr lang="es-419" dirty="0"/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3840480" cy="3200400"/>
          </a:xfrm>
          <a:prstGeom prst="rect">
            <a:avLst/>
          </a:prstGeom>
          <a:solidFill>
            <a:srgbClr val="F0FDF4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17060" y="2360582"/>
            <a:ext cx="2933239" cy="20056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rPr lang="es-419" dirty="0"/>
              <a:t>Distribuciones Alfamedics</a:t>
            </a:r>
            <a:endParaRPr dirty="0"/>
          </a:p>
          <a:p>
            <a:pPr>
              <a:spcAft>
                <a:spcPts val="1000"/>
              </a:spcAft>
              <a:defRPr sz="1400" b="1"/>
            </a:pPr>
            <a:r>
              <a:rPr lang="es-CO" dirty="0"/>
              <a:t>Solución: </a:t>
            </a:r>
            <a:r>
              <a:rPr lang="es-CO" dirty="0" err="1"/>
              <a:t>Lynex</a:t>
            </a:r>
            <a:r>
              <a:rPr lang="es-CO" dirty="0"/>
              <a:t> + Analítica de Datos</a:t>
            </a:r>
          </a:p>
          <a:p>
            <a:pPr>
              <a:spcAft>
                <a:spcPts val="600"/>
              </a:spcAft>
              <a:defRPr sz="1200"/>
            </a:pPr>
            <a:r>
              <a:rPr lang="es-CO" dirty="0"/>
              <a:t>Industria: Distribución farmacéutica</a:t>
            </a:r>
          </a:p>
          <a:p>
            <a:pPr>
              <a:spcAft>
                <a:spcPts val="600"/>
              </a:spcAft>
              <a:defRPr sz="1200" b="1"/>
            </a:pPr>
            <a:r>
              <a:rPr lang="es-CO" dirty="0"/>
              <a:t>Resultados:</a:t>
            </a:r>
          </a:p>
          <a:p>
            <a:pPr marL="171450" indent="-171450">
              <a:spcAft>
                <a:spcPts val="300"/>
              </a:spcAft>
              <a:buClr>
                <a:srgbClr val="00B050"/>
              </a:buClr>
              <a:buFont typeface="Letra del sistema regular"/>
              <a:buChar char="◉"/>
              <a:defRPr sz="1100"/>
            </a:pPr>
            <a:r>
              <a:rPr lang="es-CO" dirty="0"/>
              <a:t>Gestión </a:t>
            </a:r>
            <a:r>
              <a:rPr lang="es-CO" dirty="0" err="1"/>
              <a:t>omnicanal</a:t>
            </a:r>
            <a:r>
              <a:rPr lang="es-CO" dirty="0"/>
              <a:t> integrada</a:t>
            </a:r>
          </a:p>
          <a:p>
            <a:pPr marL="171450" indent="-171450">
              <a:spcAft>
                <a:spcPts val="300"/>
              </a:spcAft>
              <a:buClr>
                <a:srgbClr val="00B050"/>
              </a:buClr>
              <a:buFont typeface="Letra del sistema regular"/>
              <a:buChar char="◉"/>
              <a:defRPr sz="1100"/>
            </a:pPr>
            <a:r>
              <a:rPr lang="es-CO" dirty="0" err="1"/>
              <a:t>Dashboard</a:t>
            </a:r>
            <a:r>
              <a:rPr lang="es-CO" dirty="0"/>
              <a:t> de analítica en tiempo real</a:t>
            </a:r>
          </a:p>
          <a:p>
            <a:pPr marL="171450" indent="-171450">
              <a:spcAft>
                <a:spcPts val="300"/>
              </a:spcAft>
              <a:buClr>
                <a:srgbClr val="00B050"/>
              </a:buClr>
              <a:buFont typeface="Letra del sistema regular"/>
              <a:buChar char="◉"/>
              <a:defRPr sz="1100"/>
            </a:pPr>
            <a:r>
              <a:rPr lang="es-CO" dirty="0"/>
              <a:t>Optimización de distribución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6B7AA7C-C45F-F4E7-973F-4AB4DC706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302" y="1512346"/>
            <a:ext cx="1310034" cy="70749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D14E13A-C11D-F81F-88E8-83E7A78BB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689" y="1418345"/>
            <a:ext cx="1237979" cy="8954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3716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Trayectoria Profesional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98316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dirty="0" err="1"/>
              <a:t>Ingeniero</a:t>
            </a:r>
            <a:r>
              <a:rPr dirty="0"/>
              <a:t> de IA - SIRIS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9831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Enero 2026 - Presente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18356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s-419" dirty="0"/>
              <a:t>Desarrollo </a:t>
            </a:r>
            <a:r>
              <a:rPr dirty="0"/>
              <a:t>de chatbots</a:t>
            </a:r>
            <a:r>
              <a:rPr lang="es-419" dirty="0"/>
              <a:t> con IA</a:t>
            </a:r>
            <a:r>
              <a:rPr dirty="0"/>
              <a:t> </a:t>
            </a:r>
            <a:r>
              <a:rPr lang="es-419" dirty="0"/>
              <a:t>personalizables</a:t>
            </a:r>
            <a:r>
              <a:rPr dirty="0"/>
              <a:t> </a:t>
            </a:r>
            <a:r>
              <a:rPr lang="es-419" dirty="0"/>
              <a:t>e implementación de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 de </a:t>
            </a:r>
            <a:r>
              <a:rPr dirty="0" err="1"/>
              <a:t>análisis</a:t>
            </a:r>
            <a:r>
              <a:rPr dirty="0"/>
              <a:t> </a:t>
            </a:r>
            <a:r>
              <a:rPr lang="es-419" dirty="0"/>
              <a:t>para grandes volúmenes de datos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1980021"/>
            <a:ext cx="29384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rPr dirty="0" err="1">
                <a:solidFill>
                  <a:srgbClr val="2463EC"/>
                </a:solidFill>
              </a:rPr>
              <a:t>Desarrollador</a:t>
            </a:r>
            <a:r>
              <a:rPr dirty="0">
                <a:solidFill>
                  <a:srgbClr val="2463EC"/>
                </a:solidFill>
              </a:rPr>
              <a:t> </a:t>
            </a:r>
            <a:r>
              <a:rPr dirty="0" err="1">
                <a:solidFill>
                  <a:srgbClr val="2463EC"/>
                </a:solidFill>
              </a:rPr>
              <a:t>Móvil</a:t>
            </a:r>
            <a:r>
              <a:rPr dirty="0">
                <a:solidFill>
                  <a:srgbClr val="2463EC"/>
                </a:solidFill>
              </a:rPr>
              <a:t> - SIRIS S.A.S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1274" y="1980021"/>
            <a:ext cx="21555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rPr lang="es-419" dirty="0"/>
              <a:t>Febrero </a:t>
            </a:r>
            <a:r>
              <a:rPr dirty="0"/>
              <a:t>2021 </a:t>
            </a:r>
            <a:r>
              <a:rPr lang="es-CO" dirty="0"/>
              <a:t>–</a:t>
            </a:r>
            <a:r>
              <a:rPr dirty="0"/>
              <a:t> </a:t>
            </a:r>
            <a:r>
              <a:rPr lang="es-419" dirty="0"/>
              <a:t>Diciembre </a:t>
            </a:r>
            <a:r>
              <a:rPr dirty="0"/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0061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dirty="0" err="1"/>
              <a:t>Diseño</a:t>
            </a:r>
            <a:r>
              <a:rPr dirty="0"/>
              <a:t> y </a:t>
            </a:r>
            <a:r>
              <a:rPr dirty="0" err="1"/>
              <a:t>desarrollo</a:t>
            </a:r>
            <a:r>
              <a:rPr dirty="0"/>
              <a:t> de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móviles</a:t>
            </a:r>
            <a:r>
              <a:rPr dirty="0"/>
              <a:t> para iOS y Android.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20101"/>
            <a:ext cx="5987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2463EC"/>
                </a:solidFill>
              </a:rPr>
              <a:t>Investigador</a:t>
            </a:r>
            <a:r>
              <a:rPr sz="1600" b="1" dirty="0">
                <a:solidFill>
                  <a:srgbClr val="2463EC"/>
                </a:solidFill>
              </a:rPr>
              <a:t> de IA </a:t>
            </a:r>
            <a:r>
              <a:rPr lang="es-CO" sz="1600" b="1" dirty="0">
                <a:solidFill>
                  <a:srgbClr val="2463EC"/>
                </a:solidFill>
              </a:rPr>
              <a:t>–</a:t>
            </a:r>
            <a:r>
              <a:rPr sz="1600" b="1" dirty="0">
                <a:solidFill>
                  <a:srgbClr val="2463EC"/>
                </a:solidFill>
              </a:rPr>
              <a:t> </a:t>
            </a:r>
            <a:r>
              <a:rPr sz="1600" b="1" dirty="0" err="1">
                <a:solidFill>
                  <a:srgbClr val="2463EC"/>
                </a:solidFill>
              </a:rPr>
              <a:t>VARLab</a:t>
            </a:r>
            <a:r>
              <a:rPr lang="es-419" sz="1600" b="1" dirty="0">
                <a:solidFill>
                  <a:srgbClr val="2463EC"/>
                </a:solidFill>
              </a:rPr>
              <a:t>, </a:t>
            </a:r>
            <a:r>
              <a:rPr lang="es-CO" sz="1600" b="1" dirty="0">
                <a:solidFill>
                  <a:srgbClr val="2463EC"/>
                </a:solidFill>
              </a:rPr>
              <a:t>Waterloo, Ontario</a:t>
            </a:r>
            <a:endParaRPr sz="1600" b="1" dirty="0">
              <a:solidFill>
                <a:srgbClr val="2463EC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87141" y="2620101"/>
            <a:ext cx="179965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rPr dirty="0"/>
              <a:t>Mayo 2024 - Agosto 2024</a:t>
            </a:r>
            <a:endParaRPr lang="es-419" dirty="0"/>
          </a:p>
          <a:p>
            <a:pPr algn="r">
              <a:defRPr sz="1200">
                <a:solidFill>
                  <a:srgbClr val="666666"/>
                </a:solidFill>
              </a:defRPr>
            </a:pPr>
            <a:r>
              <a:rPr lang="es-CO" dirty="0"/>
              <a:t>Mayo 2025 – Agosto 2025</a:t>
            </a:r>
          </a:p>
          <a:p>
            <a:pPr algn="r">
              <a:defRPr sz="1200">
                <a:solidFill>
                  <a:srgbClr val="666666"/>
                </a:solidFill>
              </a:defRPr>
            </a:pP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14400" y="294036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dirty="0" err="1"/>
              <a:t>Investigación</a:t>
            </a:r>
            <a:r>
              <a:rPr dirty="0"/>
              <a:t> y </a:t>
            </a:r>
            <a:r>
              <a:rPr dirty="0" err="1"/>
              <a:t>desarrollo</a:t>
            </a:r>
            <a:r>
              <a:rPr dirty="0"/>
              <a:t> de </a:t>
            </a:r>
            <a:r>
              <a:rPr dirty="0" err="1"/>
              <a:t>soluciones</a:t>
            </a:r>
            <a:r>
              <a:rPr dirty="0"/>
              <a:t> </a:t>
            </a:r>
            <a:r>
              <a:rPr dirty="0" err="1"/>
              <a:t>inteligentes</a:t>
            </a:r>
            <a:r>
              <a:rPr dirty="0"/>
              <a:t> con IA.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3D96CEDF-A9D9-4C4B-491E-ED35871266AA}"/>
              </a:ext>
            </a:extLst>
          </p:cNvPr>
          <p:cNvSpPr txBox="1"/>
          <p:nvPr/>
        </p:nvSpPr>
        <p:spPr>
          <a:xfrm>
            <a:off x="914400" y="3324970"/>
            <a:ext cx="55150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rPr lang="es-419" dirty="0">
                <a:solidFill>
                  <a:schemeClr val="bg2">
                    <a:lumMod val="50000"/>
                  </a:schemeClr>
                </a:solidFill>
              </a:rPr>
              <a:t>Posgrado en Inteligencia Artificial Aplicada y Machine Learning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2157371C-B1F6-BEA0-4283-FD7D7F6ECAAB}"/>
              </a:ext>
            </a:extLst>
          </p:cNvPr>
          <p:cNvSpPr txBox="1"/>
          <p:nvPr/>
        </p:nvSpPr>
        <p:spPr>
          <a:xfrm>
            <a:off x="6779097" y="3351717"/>
            <a:ext cx="20157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rPr lang="es-CO" sz="1200" dirty="0"/>
              <a:t>Septiembre 2024 - Abril 2024</a:t>
            </a:r>
            <a:endParaRPr lang="es-419" dirty="0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BF7D7E97-C39E-19F8-B46D-6E8E13A9C6FE}"/>
              </a:ext>
            </a:extLst>
          </p:cNvPr>
          <p:cNvSpPr txBox="1"/>
          <p:nvPr/>
        </p:nvSpPr>
        <p:spPr>
          <a:xfrm>
            <a:off x="914400" y="364501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s-CO" sz="1200" dirty="0"/>
              <a:t>Especialización enfocada en usar la Inteligencia Artificial para resolver problemas reales del mundo empresarial y optimizar procesos de negocio.</a:t>
            </a:r>
            <a:endParaRPr dirty="0"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AFCBE755-AF90-E898-A91D-EE60FA8A86B8}"/>
              </a:ext>
            </a:extLst>
          </p:cNvPr>
          <p:cNvSpPr txBox="1"/>
          <p:nvPr/>
        </p:nvSpPr>
        <p:spPr>
          <a:xfrm>
            <a:off x="914400" y="4096405"/>
            <a:ext cx="42094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rPr lang="es-419" dirty="0">
                <a:solidFill>
                  <a:schemeClr val="bg2">
                    <a:lumMod val="50000"/>
                  </a:schemeClr>
                </a:solidFill>
              </a:rPr>
              <a:t>Posgrado en Arquitectura y Soluciones Big Data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F12E1C6E-30F2-14AF-D5BA-1A6B6097DA3F}"/>
              </a:ext>
            </a:extLst>
          </p:cNvPr>
          <p:cNvSpPr txBox="1"/>
          <p:nvPr/>
        </p:nvSpPr>
        <p:spPr>
          <a:xfrm>
            <a:off x="6671055" y="4096405"/>
            <a:ext cx="20157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rPr lang="es-CO" sz="1200" dirty="0"/>
              <a:t>Septiembre 2025 - Abril 2025</a:t>
            </a:r>
            <a:endParaRPr lang="es-419" dirty="0"/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19CCA1F3-BD19-5CFE-58C0-2D2FD0F45F4C}"/>
              </a:ext>
            </a:extLst>
          </p:cNvPr>
          <p:cNvSpPr txBox="1"/>
          <p:nvPr/>
        </p:nvSpPr>
        <p:spPr>
          <a:xfrm>
            <a:off x="914400" y="44119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s-CO" sz="1200" dirty="0"/>
              <a:t>Formación avanzada en el manejo y análisis de grandes volúmenes de datos para facilitar la toma de decisiones estratégicas.</a:t>
            </a:r>
            <a:endParaRPr dirty="0"/>
          </a:p>
        </p:txBody>
      </p:sp>
      <p:pic>
        <p:nvPicPr>
          <p:cNvPr id="29" name="Gráfico 28" descr="Maple leaf con relleno sólido">
            <a:extLst>
              <a:ext uri="{FF2B5EF4-FFF2-40B4-BE49-F238E27FC236}">
                <a16:creationId xmlns:a16="http://schemas.microsoft.com/office/drawing/2014/main" id="{C4DACB17-A62D-E8A8-D968-A49330195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496" y="4145571"/>
            <a:ext cx="227833" cy="227833"/>
          </a:xfrm>
          <a:prstGeom prst="rect">
            <a:avLst/>
          </a:prstGeom>
        </p:spPr>
      </p:pic>
      <p:pic>
        <p:nvPicPr>
          <p:cNvPr id="30" name="Gráfico 29" descr="Maple leaf con relleno sólido">
            <a:extLst>
              <a:ext uri="{FF2B5EF4-FFF2-40B4-BE49-F238E27FC236}">
                <a16:creationId xmlns:a16="http://schemas.microsoft.com/office/drawing/2014/main" id="{B16591E1-B25F-0AD2-DFE1-4B3B618CB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495" y="3400883"/>
            <a:ext cx="227833" cy="227833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B355460C-2811-0EA9-DC75-8113163C6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49" y="2745709"/>
            <a:ext cx="315298" cy="315298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5383FD42-060C-DCA8-0323-9A46B6A3F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129" y="2048051"/>
            <a:ext cx="596563" cy="23049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98ED8284-90B6-42F9-EE78-5A226638B5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649" y="1198316"/>
            <a:ext cx="352331" cy="3523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1977" y="1786195"/>
            <a:ext cx="5320046" cy="14568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 dirty="0" err="1"/>
              <a:t>Trabajemos</a:t>
            </a:r>
            <a:r>
              <a:rPr dirty="0"/>
              <a:t> Juntos</a:t>
            </a:r>
          </a:p>
          <a:p>
            <a:pPr algn="ctr">
              <a:spcBef>
                <a:spcPts val="2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¿Listo para </a:t>
            </a:r>
            <a:r>
              <a:rPr dirty="0" err="1"/>
              <a:t>transformar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negocio</a:t>
            </a:r>
            <a:r>
              <a:rPr dirty="0"/>
              <a:t> con 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748</Words>
  <Application>Microsoft Macintosh PowerPoint</Application>
  <PresentationFormat>Presentación en pantalla (16:9)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Letra del sistema regular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Andrés Bolaños Osejo</cp:lastModifiedBy>
  <cp:revision>12</cp:revision>
  <dcterms:created xsi:type="dcterms:W3CDTF">2013-01-27T09:14:16Z</dcterms:created>
  <dcterms:modified xsi:type="dcterms:W3CDTF">2026-01-21T16:34:36Z</dcterms:modified>
  <cp:category/>
</cp:coreProperties>
</file>